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731520"/>
            <a:ext cx="1645920" cy="164592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2011680"/>
            <a:ext cx="914400" cy="914400"/>
          </a:xfrm>
          <a:prstGeom prst="ellipse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5029200"/>
            <a:ext cx="1097280" cy="10972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Predictive Maintenance</a:t>
            </a:r>
            <a:br/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0D8"/>
                </a:solidFill>
                <a:latin typeface="Calibri"/>
              </a:defRPr>
            </a:pPr>
            <a:r>
              <a:t>An AI that doesn't just predict machine failure —</a:t>
            </a:r>
            <a:br/>
            <a:r>
              <a:t>it explains why, and decides what to do about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Cognizant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$19,600 Mistake That Never Had to Happen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Running Normally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A milling machine runs</a:t>
            </a:r>
            <a:br/>
            <a:r>
              <a:t>for 14 hours straight.</a:t>
            </a:r>
            <a:br/>
            <a:r>
              <a:t>Nobody watches every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Something Shifts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Tool wear climbs.</a:t>
            </a:r>
            <a:br/>
            <a:r>
              <a:t>Torque creeps up.</a:t>
            </a:r>
            <a:br/>
            <a:r>
              <a:t>Nobody notices.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The machine grinds to</a:t>
            </a:r>
            <a:br/>
            <a:r>
              <a:t>a halt. Production stops.</a:t>
            </a:r>
            <a:br/>
            <a:r>
              <a:t>3 hours to diagnose.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A worn-out tool bit.</a:t>
            </a:r>
            <a:br/>
            <a:r>
              <a:t>10-minute swap —</a:t>
            </a:r>
            <a:br/>
            <a:r>
              <a:t>if only someone had known.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0A2A3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What if the machine could tell you — before it breaks — exactly what's wrong, why, and what to do?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Doctor for Machines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849E"/>
                </a:solidFill>
                <a:latin typeface="Calibri"/>
              </a:defRPr>
            </a:pPr>
            <a:r>
              <a:t>Think of it as a doctor that never sleeps — and always shows its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27432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01. Watches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Continuously monitors vital signs:</a:t>
            </a:r>
            <a:br/>
            <a:r>
              <a:t>temperature, speed, torque, tool wear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560320" cy="27432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02.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Estimates failure risk —</a:t>
            </a:r>
            <a:br/>
            <a:r>
              <a:t>like a health risk score at the 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560320" cy="27432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03. Diagnoses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Identifies the exact cause —</a:t>
            </a:r>
            <a:br/>
            <a:r>
              <a:t>not 'something's wrong' but 'this specific part'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560320" cy="27432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04.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Keep running, watch closely,</a:t>
            </a:r>
            <a:br/>
            <a:r>
              <a:t>or stop the line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 Nobody Talks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The Accuracy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Machines fail only ~3.4% of the time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A lazy AI that always says 'fine' scores 96.6%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That's a perfect accuracy score — and it catches ZERO failures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FA02F"/>
                </a:solidFill>
                <a:latin typeface="Calibri"/>
              </a:defRPr>
            </a:pPr>
            <a:r>
              <a:t>Accuracy is meaningless on imbalanced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The Black-Box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ML models say '87% risk' — then nothing else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A technician needs to know WHAT to fix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'High risk' without a cause = useless to the floor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FA02F"/>
                </a:solidFill>
                <a:latin typeface="Calibri"/>
              </a:defRPr>
            </a:pPr>
            <a:r>
              <a:t>Explainability isn't a bonus — it's the entire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0A2A3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Our Bet: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 built a system where every prediction comes with a physics-backed explanation.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CCD0D8"/>
                </a:solidFill>
                <a:latin typeface="Calibri"/>
              </a:defRPr>
            </a:pPr>
            <a:r>
              <a:t>The agent can't just say 'risky' — it has to prove WHY, against documented engineering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It Decides, Not Just Displays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6576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849E"/>
                </a:solidFill>
                <a:latin typeface="Calibri"/>
              </a:defRPr>
            </a:pPr>
            <a:r>
              <a:t>Traditional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7A849E"/>
                </a:solidFill>
                <a:latin typeface="Calibri"/>
              </a:defRPr>
            </a:pPr>
            <a:r>
              <a:t>Shows risk score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7A849E"/>
                </a:solidFill>
                <a:latin typeface="Calibri"/>
              </a:defRPr>
            </a:pPr>
            <a:r>
              <a:t>'Something's wrong'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7A849E"/>
                </a:solidFill>
                <a:latin typeface="Calibri"/>
              </a:defRPr>
            </a:pPr>
            <a:r>
              <a:t>Human interprets the number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7A849E"/>
                </a:solidFill>
                <a:latin typeface="Calibri"/>
              </a:defRPr>
            </a:pPr>
            <a:r>
              <a:t>No action taken by the system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7A849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7A849E"/>
                </a:solidFill>
                <a:latin typeface="Calibri"/>
              </a:defRPr>
            </a:pPr>
            <a:r>
              <a:t>Passive  —  shows data, decides nothing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Our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Makes a decision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'Overstrain failure — stop now'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Agent recommends action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Structured work order with evidence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Active  —  reasons, decides, 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 Real Decisions: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3474720" cy="457200"/>
          </a:xfrm>
          <a:prstGeom prst="roundRect">
            <a:avLst/>
          </a:prstGeom>
          <a:noFill/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61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D4D"/>
                </a:solidFill>
                <a:latin typeface="Calibri"/>
              </a:defRPr>
            </a:pPr>
            <a:r>
              <a:t>ESCALATE NOW  —  Stop the line — verified critical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5943600"/>
            <a:ext cx="3474720" cy="457200"/>
          </a:xfrm>
          <a:prstGeom prst="roundRect">
            <a:avLst/>
          </a:prstGeom>
          <a:noFill/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5961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02F"/>
                </a:solidFill>
                <a:latin typeface="Calibri"/>
              </a:defRPr>
            </a:pPr>
            <a:r>
              <a:t>SCHEDULE  —  Fix at next planned stop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943600"/>
            <a:ext cx="3474720" cy="457200"/>
          </a:xfrm>
          <a:prstGeom prst="roundRect">
            <a:avLst/>
          </a:prstGeom>
          <a:noFill/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961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MONITOR  —  Continue watching — nominal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Thinks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82880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182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0D8"/>
                </a:solidFill>
                <a:latin typeface="Calibri"/>
              </a:defRPr>
            </a:pPr>
            <a:r>
              <a:t>Reads live sensor data:</a:t>
            </a:r>
            <a:br/>
            <a:r>
              <a:t>temperature, speed,</a:t>
            </a:r>
            <a:br/>
            <a:r>
              <a:t>torque, tool wear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828800"/>
            <a:ext cx="731520" cy="731520"/>
          </a:xfrm>
          <a:prstGeom prst="ellipse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182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02F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0D8"/>
                </a:solidFill>
                <a:latin typeface="Calibri"/>
              </a:defRPr>
            </a:pPr>
            <a:r>
              <a:t>ML model estimates</a:t>
            </a:r>
            <a:br/>
            <a:r>
              <a:t>failure probability</a:t>
            </a:r>
            <a:br/>
            <a:r>
              <a:t>using 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06640" y="182880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182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0D8"/>
                </a:solidFill>
                <a:latin typeface="Calibri"/>
              </a:defRPr>
            </a:pPr>
            <a:r>
              <a:t>Physics rules engine</a:t>
            </a:r>
            <a:br/>
            <a:r>
              <a:t>checks against known</a:t>
            </a:r>
            <a:br/>
            <a:r>
              <a:t>engineering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645920"/>
            <a:ext cx="2560320" cy="29260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7000" y="1828800"/>
            <a:ext cx="731520" cy="731520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182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699"/>
                </a:solidFill>
                <a:latin typeface="Calibri"/>
              </a:defRPr>
            </a:pPr>
            <a: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0D8"/>
                </a:solidFill>
                <a:latin typeface="Calibri"/>
              </a:defRPr>
            </a:pPr>
            <a:r>
              <a:t>Combines both opinions;</a:t>
            </a:r>
            <a:br/>
            <a:r>
              <a:t>only acts when</a:t>
            </a:r>
            <a:br/>
            <a:r>
              <a:t>they agree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8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8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8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0A2A3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If the AI and the physics disagree, the agent flags the conflict — it never guesses a cause it can't prove.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to Be Defensible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8404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Data &amp;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Python, XGBoost, IsolationForest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Trained on AI4I 2020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10,000 machine-cycle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80/20 stratified split, tuned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560320" cy="38404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2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2148840"/>
            <a:ext cx="182880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SHAP (TreeExplainer)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Feature-by-feature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Global + per-prediction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Top features match physics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645920"/>
            <a:ext cx="2560320" cy="38404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Reasoning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148840"/>
            <a:ext cx="1828800" cy="508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LLM agent with tool-calling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7 dedicated tools for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Deterministic offline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Structured work orders (Pydantic)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1645920"/>
            <a:ext cx="2560320" cy="38404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699"/>
                </a:solidFill>
                <a:latin typeface="Calibri"/>
              </a:defRPr>
            </a:pPr>
            <a:r>
              <a:t>Knowledge + Interface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2148840"/>
            <a:ext cx="1828800" cy="50800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Maintenance playbook (JSON)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Cost model with cited 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Live dashboard (Streamlit)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886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Chat interface for 'why?'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82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Machine running.</a:t>
            </a:r>
            <a:br/>
            <a:r>
              <a:t>Dashboard green.</a:t>
            </a:r>
            <a:br/>
            <a:r>
              <a:t>All sensors nominal.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45920"/>
            <a:ext cx="256032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40" y="1828800"/>
            <a:ext cx="457200" cy="457200"/>
          </a:xfrm>
          <a:prstGeom prst="ellipse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82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Tool wear climbing.</a:t>
            </a:r>
            <a:br/>
            <a:r>
              <a:t>Torque rising.</a:t>
            </a:r>
            <a:br/>
            <a:r>
              <a:t>Risk score increasing.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256032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1828800"/>
            <a:ext cx="457200" cy="457200"/>
          </a:xfrm>
          <a:prstGeom prst="ellipse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82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Physics rule fires.</a:t>
            </a:r>
            <a:br/>
            <a:r>
              <a:t>SHAP shows top driver.</a:t>
            </a:r>
            <a:br/>
            <a:r>
              <a:t>Root cause identified.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645920"/>
            <a:ext cx="256032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18288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82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6888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8"/>
                </a:solidFill>
                <a:latin typeface="Calibri"/>
              </a:defRPr>
            </a:pPr>
            <a:r>
              <a:t>Work order issued.</a:t>
            </a:r>
            <a:br/>
            <a:r>
              <a:t>Severity: CRITICAL.</a:t>
            </a:r>
            <a:br/>
            <a:r>
              <a:t>Action: Stop the 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Demo Case — UDI 70 (Overstrain Failure)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CCD0D8"/>
                </a:solidFill>
                <a:latin typeface="Calibri"/>
              </a:defRPr>
            </a:pPr>
            <a:r>
              <a:t>wear x torque = 12,549 minNm vs 11,000 limit (114%). SHAP top feature: osf_margin +4.86.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Agent decision: ESCALATE NOW. Cost avoided: ~$19,600. Confidence: HIGH (ML + physics agree).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Metrics That Actually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PR-AUC</a:t>
            </a:r>
            <a:br/>
            <a:r>
              <a:t>(26x baseline)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45920"/>
            <a:ext cx="2560320" cy="164592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Recall</a:t>
            </a:r>
            <a:br/>
            <a:r>
              <a:t>59/68 failures caught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560320" cy="164592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02F"/>
                </a:solidFill>
                <a:latin typeface="Calibri"/>
              </a:defRPr>
            </a:pPr>
            <a:r>
              <a:t>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Precision</a:t>
            </a:r>
            <a:br/>
            <a:r>
              <a:t>16 false alarms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645920"/>
            <a:ext cx="2560320" cy="164592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69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Root-Cause Accuracy</a:t>
            </a:r>
            <a:br/>
            <a:r>
              <a:t>at HIGH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0698480" cy="201168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What It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0.88 (vs 0.034 baseline)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The honest metric for rare-failure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44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87% (59/68)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544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We'd rather double-check a healthy machine than miss a real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28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928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79% (16 false alarms)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28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Low false-alarm rate across 2,000 test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12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Root-Cause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312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100% at HIGH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312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0D8"/>
                </a:solidFill>
                <a:latin typeface="Calibri"/>
              </a:defRPr>
            </a:pPr>
            <a:r>
              <a:t>When it names a cause, it's never wrong — structural guarantee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43600"/>
            <a:ext cx="10698480" cy="4572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9618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D4D"/>
                </a:solidFill>
                <a:latin typeface="Calibri"/>
              </a:defRPr>
            </a:pPr>
            <a:r>
              <a:t>We do NOT lead with accuracy — a model that always says 'fine' scores 96.6% and is useless.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Factory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Calibri"/>
              </a:defRPr>
            </a:pPr>
            <a:r>
              <a:t>$$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2F"/>
                </a:solidFill>
                <a:latin typeface="Calibri"/>
              </a:defRPr>
            </a:pPr>
            <a:r>
              <a:t>Cost of Unplanned 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$2,600/hr — mid-market CNC cell (cited rate)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Emergency repairs cost 3-5x scheduled ones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Cascading delays across the production line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Labor idle time + lost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What Our Agent Prevents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59 failures caught early across 2,000 cycles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Emergency repairs become scheduled fixes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2.5 hr avg downtime per failure avoided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$383,000 estimated savings across test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029200" cy="146304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Calibri"/>
              </a:defRPr>
            </a:pPr>
            <a:r>
              <a:t>Reactive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Machine breaks without warning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Emergency callout, overtime costs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Collateral damage to other parts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F4D4D"/>
                </a:solidFill>
                <a:latin typeface="Calibri"/>
              </a:defRPr>
            </a:pPr>
            <a:r>
              <a:t>Unpredictable, expensive, unsafe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With Our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Early warning with verified cause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Scheduled fix at next planned stop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D0D8"/>
                </a:solidFill>
                <a:latin typeface="Calibri"/>
              </a:defRPr>
            </a:pPr>
            <a:r>
              <a:t>Minimal disruption to production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0E676"/>
                </a:solidFill>
                <a:latin typeface="Calibri"/>
              </a:defRPr>
            </a:pPr>
            <a:r>
              <a:t>Predictable, cheaper, safer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Prototype to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1148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Hackathon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64592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Single-machine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Physics-grounded synthetic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Offline + LLM agent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Live interactive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645920"/>
            <a:ext cx="2560320" cy="41148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2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Pilot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514600"/>
            <a:ext cx="164592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Connect to real IoT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Multiple machines on one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Integration with existing 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Mobile alerts for technicians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645920"/>
            <a:ext cx="2560320" cy="41148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Fleet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514600"/>
            <a:ext cx="1645920" cy="508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Multi-factory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ERP maintenance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Fleet-wide anomaly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Predictive parts inventory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1645920"/>
            <a:ext cx="2560320" cy="41148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99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Standard AI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2514600"/>
            <a:ext cx="1645920" cy="50800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Plug-in for any manufacturer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Works with any sensor suite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Licensable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Industry-standard explainable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We're Honest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849E"/>
                </a:solidFill>
                <a:latin typeface="Calibri"/>
              </a:defRPr>
            </a:pPr>
            <a:r>
              <a:t>Judges respect maturity. Here's what we know, and what we're doing about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914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2F"/>
                </a:solidFill>
                <a:latin typeface="Calibri"/>
              </a:defRPr>
            </a:pPr>
            <a:r>
              <a:t>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Built on the AI4I 2020 dataset — physically grounded, but not live plant data yet. Our next step is real IoT sensor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698480" cy="914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849E"/>
                </a:solidFill>
                <a:latin typeface="Calibri"/>
              </a:defRPr>
            </a:pPr>
            <a:r>
              <a:t>No Real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Data is snapshot-based, not a true time series. UDI is used as a simulated replay index for the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914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Calibri"/>
              </a:defRPr>
            </a:pPr>
            <a:r>
              <a:t>RNF is Irreducible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One failure mode (Random) fires at 0.1% regardless of sensor values. We exclude it by design and say 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7A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A849E"/>
                </a:solidFill>
                <a:latin typeface="Calibri"/>
              </a:defRPr>
            </a:pPr>
            <a:r>
              <a:t>Probabilities Uncalibrated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8"/>
                </a:solidFill>
                <a:latin typeface="Calibri"/>
              </a:defRPr>
            </a:pPr>
            <a:r>
              <a:t>scale_pos_weight distorts raw probabilities. We fitted a calibrator — marginal improvement, recommend leaving it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182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Calibri"/>
              </a:defRPr>
            </a:pPr>
            <a:r>
              <a:t>Physics-Verified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Every explanation is backed by</a:t>
            </a:r>
            <a:br/>
            <a:r>
              <a:t>real engineering limits — not guesses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201168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A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1828800"/>
            <a:ext cx="640080" cy="640080"/>
          </a:xfrm>
          <a:prstGeom prst="ellipse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182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02F"/>
                </a:solidFill>
                <a:latin typeface="Calibri"/>
              </a:defRPr>
            </a:pPr>
            <a:r>
              <a:t>Honest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PR-AUC over accuracy.</a:t>
            </a:r>
            <a:br/>
            <a:r>
              <a:t>We report what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645920"/>
            <a:ext cx="201168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182880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182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  <a:latin typeface="Calibri"/>
              </a:defRPr>
            </a:pPr>
            <a:r>
              <a:t>Real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Not a dashboard — an agent</a:t>
            </a:r>
            <a:br/>
            <a:r>
              <a:t>that commits to an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201168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6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1828800"/>
            <a:ext cx="640080" cy="640080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182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699"/>
                </a:solidFill>
                <a:latin typeface="Calibri"/>
              </a:defRPr>
            </a:pPr>
            <a:r>
              <a:t>Clear Path to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Prototype -&gt; pilot -&gt; fleet.</a:t>
            </a:r>
            <a:br/>
            <a:r>
              <a:t>This is a licensable platform.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645920"/>
            <a:ext cx="2011680" cy="3200400"/>
          </a:xfrm>
          <a:prstGeom prst="roundRect">
            <a:avLst/>
          </a:prstGeom>
          <a:solidFill>
            <a:srgbClr val="1C243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182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Self-Aware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063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0D8"/>
                </a:solidFill>
                <a:latin typeface="Calibri"/>
              </a:defRPr>
            </a:pPr>
            <a:r>
              <a:t>We know our limitations</a:t>
            </a:r>
            <a:br/>
            <a:r>
              <a:t>and we state them upfront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1828800" cy="182880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828800"/>
            <a:ext cx="1097280" cy="1097280"/>
          </a:xfrm>
          <a:prstGeom prst="ellipse">
            <a:avLst/>
          </a:prstGeom>
          <a:solidFill>
            <a:srgbClr val="FF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1371600" cy="13716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"We didn't just build a model that predicts failure —</a:t>
            </a:r>
            <a:br/>
            <a:r>
              <a:t>we built a system that can defend its own reasoning."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849E"/>
                </a:solidFill>
                <a:latin typeface="Calibri"/>
              </a:defRPr>
            </a:pPr>
            <a:r>
              <a:t>Cognizant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49E"/>
                </a:solidFill>
                <a:latin typeface="Calibri"/>
              </a:defRPr>
            </a:pPr>
            <a:r>
              <a:t>Cognizant Hackathon 2026  |  Predictive Maintenance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